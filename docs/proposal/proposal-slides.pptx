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大家好，我們這組的期末專題是「重機旅遊規劃顧問」。它是一個多 Agent 的規劃系統，用騎士自己的歷史行程學出個人配速，再結合天氣、路況和加油站資料，幫騎士在出發前回答一個很實際的問題：照我的騎法，這趟路能不能在天黑前平安騎回家。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說為什麼值得做。根據交通部的資料，台灣二零二五年道路事故死亡兩千八百五十八人，只比前一年少百分之三點一，而且超過六成是機車使用者。大型重機的數量五年成長了大約一半以上。騎重機上山旅遊很常見，但山區的風險會隨時間改變：南橫公路去年就因為颱風兩次預防性封閉，山區午後雷雨也集中在下午三點到四點。什麼時候到哪裡，決定了這趟路安不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騎士真正想問的，通常是這種問題：週六想騎南橫來回，幾點出發才能在天黑前回家？中途在哪裡加油？哪一段可能下雨或封路？要回答它，系統必須同時做到三件事。第一，依照這位騎士自己的騎法預測每段要騎多久，而且給出範圍。第二，用預計抵達每個路段的時間去查天氣、日落和路況，而不是只看出發地。第三，所有條件要互相吻合，時間、日照和油量都要說得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現有的工具都只解決了一部分。一般導航的預估時間是用整體車流訓練的，代表的是多數人的平均，不知道你在山路彎道騎多快。重機專用的 App 很擅長找彎道路線和記錄行程，但沒有把個人時間、天氣和封路放在一起看。如果直接交給大型語言模型呢？研究顯示，它在真實的行程規劃測驗裡，最終通過率只有百分之零點六，地圖推理也沒有模型超過六成七。再加上資料分散，最後還是要騎士自己查、自己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關研究可以分成三條線。旅行時間預估從平均速度加總，一路發展到深度學習、圖神經網路，再到輸出機率分布，但主要對象還是城市汽車和群體平均。大型語言模型的規劃研究則發現，光靠模型自己不行，要加上外部檢查、形式化求解器或檢索才會明顯改善，只是這些測驗只考預算和景點，沒有考時間可不可行。領域方面，機車彎道速度、彎道事故、台灣午後雷雨和颱風封路都有研究，但彼此沒有串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以我們看到的研究缺口是：還沒有一個系統，能用單一騎士自己的軌跡學出個人配速並給出範圍，把這個範圍和沿途的天氣、日落、封路、加油距離放進同一份計畫，再由驗證者檢查整份計畫是不是真的可行。我們的專題就是要補上這個缺口。要強調的是，這是出發前的決策輔助，我們不做事故預測，也不會宣稱系統能預防事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這是系統架構，編號對應作業規範的八個模組。騎士透過網頁對話提問，也可以匯入自己的行程檔。核心是第三塊的多 Agent 規劃器：規劃 Agent 先理解需求，再分派給配速、天氣、路況與補給三個專責 Agent。它們向下使用資料來源、分析引擎和知識庫。整份計畫最後要通過驗證 Agent，才會變成建議，並以對話加上 Google 地圖儀表板呈現給騎士。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五個 Agent 各有明確分工。規劃 Agent 負責理解需求和整合結果。配速分析 Agent 算出每一段的時間範圍和預計抵達時間。天氣 Agent 拿這些抵達時間去查對應時段的預報和日落。路況與補給 Agent 查路況事件、加油站和續航。最關鍵的是驗證 Agent，它不靠語言模型判斷，而是用寫死的規則檢查計畫。整個系統的原則是，語言模型負責理解和解釋，所有數字都由工具計算。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照課程提出的六大能力，這個系統都有明確對應。會對話，是多輪問答並主動追問；專業知識，靠的是附出處的知識庫；取得資料，來自自己的行程和政府開放資料；資料分析，是個人配速模型；自主決策，是多 Agent 加上驗證與重新規劃；呈現成果，則是依時間和風險上色的地圖。實作範圍上，我們承諾完成第二級的知識型 Agent，騎乘中的即時提醒列為第三級延伸。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析的核心是個人配速模型。我們手上有二七九趟自己的行程，每一段實際騎了多久，就是模型要學的答案。特徵包括彎道曲率、坡度、道路等級和時段天氣。模型先用課堂教過的多元迴歸當基準，再用分位數損失的梯度提升樹，輸出一般情況和保守情況兩個時間。這裡有個細節：每段的保守時間直接相加會嚴重高估，所以我們用歷史行程校正整趟的範圍。最後會和平均速度、還有 Google 地圖的兩輪車預估時間比較。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驗證 Agent 有五條硬規則。第一，保守估計的回程時間必須早於天黑。第二，加油點之間不能超過續航，而且抵達時加油站要有開。第三，抵達時正好碰上大雨警報的路段要標為高風險。第四，有封路事件就不可行。第五，回答裡每個數字都要能追溯到工具輸出。系統會在所有可行的出發時間裡，挑出回程餘裕最大的一個；如果都不可行，就老實說明原因，並提出縮短路線或改日之類的替代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這是完整的處理流程。如果騎士匯入的是行程檔，系統就清理資料、切路段，更新個人配速模型。如果是提問，規劃 Agent 先確認資訊夠不夠，不夠就追問。接著配速、天氣、路況與補給三個 Agent 依序產生資料，組成計畫草案，再交給驗證 Agent。不通過就調整出發時間、加油點或路線，重新規劃，並設有次數上限。外部資料取得失敗時，系統會直接說明，不會用猜的補值。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核心演算法的精簡版。前三行是理解需求、缺資訊就追問，然後建立路線、切段算特徵。接著對每個候選出發時間，依序取得配速、天氣和補給資訊，第七行用各段的一般時間加總，再加上校正量，得到整趟的保守時間。第十一行是驗證：只有通過規則、而且回程餘裕更大的計畫，才會被留下來。如果一個都沒有，就依違反的規則重新規劃，直到找到可行計畫或達到次數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領域研究上，我們整理出五個專家共同的思維模式，例如規劃要看最難的路段，不能看平均速度；山區天氣要看時段；日照是硬限制。每一條都直接變成系統的規則。我們也整理了三個仍有爭論的問題。第三個特別值得一提：電子輔助系統可能讓騎士騎得更冒險，我們的系統本身也是一種輔助，所以決策一律用保守的時間範圍，避免騎士因為信任系統而壓縮安全餘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評估分成四個實驗。第一個驗證配速模型，和平均速度、Google 預估時間比較，看誤差和保守範圍的覆蓋率。第二個是消融實驗，用同一批規劃問題，比較只用語言模型、加上知識庫、以及完整 Agent 的計畫可行率，這直接回答工具和驗證到底帶來多少改善。第三個用歷史封路紀錄回測風險規則，第四個做完整的案例研究。我們預期個人模型在山路會更準，但這些都還是待驗證的假設，這份提案沒有任何實驗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最後談可行性和限制。資料方面，二七九趟行程已經在手上，政府開放資料和 Google 兩輪車路線也都確認可以取得。方法方面，同一套分析流程已經在公開的汽車資料集上跑通，不過那只證明流程可行，不是這個題目的結果。限制也很清楚：只有一位騎士，封路沒有歷史資料，風險評分沒有標準答案。以上是我們的提案，謝謝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重機旅遊規劃顧問（Moto Touring Copilot）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結合個人配速模型與外部驗證的多 Agent 重機旅遊規劃系統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為什麼要做這個題目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台灣 2025 年道路交通事故死亡 2,858 人，只比前一年少 3.1%；其中機車使用者占 60.9%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大型重型機車登記數到 2025 年底約 28 萬輛，五年成長約 56%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南橫公路 2025 年兩次因颱風預防性封閉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台灣山區午後雷雨集中在下午三點到四點，沿山坡下緣最常發生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來源：交通部道安資訊查詢網；交通部公路局 114 年統計年報；中央社；Lin et al., Weather and Forecasting, 2011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騎士真正想問的問題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1">
                <a:solidFill>
                  <a:srgbClr val="2F6B4F"/>
                </a:solidFill>
                <a:latin typeface="Microsoft JhengHei"/>
                <a:ea typeface="Microsoft JhengHei"/>
                <a:cs typeface="Microsoft JhengHei"/>
              </a:rPr>
              <a:t>「週六想騎南橫來回，幾點出發才能在天黑前回到家？中途哪裡加油？哪一段可能下雨或封路？」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個人化的時間預測：依我過去的騎法，每段要騎多久，並給出範圍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依抵達時間查風險：用「預計抵達該路段的時間」查天氣、日落和路況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一致性檢查：各段時間加總、回程是否在天黑前、加油距離是否在續航內，必須彼此吻合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現有方法的不足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一般導航：預估時間以整體車流訓練，是群體平均，不知道個別騎士在彎道和坡道的騎法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重機 App（Calimoto、Kurviger、REVER）：著重彎道路線與騎乘紀錄，沒有整合個人化時間、天氣與封路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只用 LLM：TravelPlanner 中 GPT-4-Turbo 的最終通過率只有 0.6%；MapEval 沒有模型在地圖推理超過 67%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資料分散：預報、日落、路況、加油站分屬不同平台，騎士要自己換算時間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來源：Google 台灣官方部落格；Derrow-Pinion et al., CIKM 2021；SlashGear 2025；Xie et al., ICML 2024；Dihan et al., ICML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相關研究與技術演進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5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480"/>
                <a:gridCol w="6964809"/>
                <a:gridCol w="3250244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方向</a:t>
                      </a:r>
                    </a:p>
                  </a:txBody>
                  <a:tcPr marL="73152" marR="73152" marT="36576" marB="36576" anchor="ctr">
                    <a:solidFill>
                      <a:srgbClr val="2F6B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演進</a:t>
                      </a:r>
                    </a:p>
                  </a:txBody>
                  <a:tcPr marL="73152" marR="73152" marT="36576" marB="36576" anchor="ctr">
                    <a:solidFill>
                      <a:srgbClr val="2F6B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仍然缺少的</a:t>
                      </a:r>
                    </a:p>
                  </a:txBody>
                  <a:tcPr marL="73152" marR="73152" marT="36576" marB="36576" anchor="ctr">
                    <a:solidFill>
                      <a:srgbClr val="2F6B4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旅行時間預估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平均速度加總 → 端對端深度學習（DeepTTE）→ 圖神經網路（Google Maps）→ 機率分布（ProbETA）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以城市汽車、群體平均為主，沒有個人化與山區彎道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 規劃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直接生成 → 外部 critic（LLM-Modulo）→ 形式化求解器 → 檢索增強（TP-RAG）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只處理預算、班次與景點，不含依個人速度與天候的時間可行性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領域知識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機車彎道速度模型、彎道事故風險、台灣午後雷雨、颱風豪雨封路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各自獨立，沒有接到行程規劃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來源：Wang et al., AAAI 2018；Derrow-Pinion et al., 2021；Xu et al., 2025；Gundawar et al., 2024；Hao et al., NAACL 2025；Ni et al., EMNLP 2025；Lemonakis et al., 2021；Xin et al., 2019；Yang et al., 2012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Research Gap 與本專題定位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Research Gap：目前沒有系統同時做到</a:t>
            </a:r>
          </a:p>
          <a:p>
            <a:pPr marL="762000" indent="-335280">
              <a:lnSpc>
                <a:spcPct val="115000"/>
              </a:lnSpc>
              <a:spcAft>
                <a:spcPts val="400"/>
              </a:spcAft>
              <a:buFont typeface="Arial"/>
              <a:buChar char="–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以單一騎士的歷史軌跡學出含地形與時段特徵的個人配速，並給出區間</a:t>
            </a:r>
          </a:p>
          <a:p>
            <a:pPr marL="762000" indent="-335280">
              <a:lnSpc>
                <a:spcPct val="115000"/>
              </a:lnSpc>
              <a:spcAft>
                <a:spcPts val="400"/>
              </a:spcAft>
              <a:buFont typeface="Arial"/>
              <a:buChar char="–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把配速區間和沿途天氣、日落、封路、加油距離放在同一份計畫</a:t>
            </a:r>
          </a:p>
          <a:p>
            <a:pPr marL="762000" indent="-335280">
              <a:lnSpc>
                <a:spcPct val="115000"/>
              </a:lnSpc>
              <a:spcAft>
                <a:spcPts val="400"/>
              </a:spcAft>
              <a:buFont typeface="Arial"/>
              <a:buChar char="–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由驗證者檢查時間與距離是否一致可行，不行就重新規劃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本專題：個人配速模型 + 依抵達時間的風險查詢 + 規劃與驗證分離的多 Agent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定位：個人化的出發前決策輔助，不做事故預測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系統架構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7 / 16</a:t>
            </a:r>
          </a:p>
        </p:txBody>
      </p:sp>
      <p:pic>
        <p:nvPicPr>
          <p:cNvPr id="7" name="Picture 6" descr="diagram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11535" cy="4314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多 Agent 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8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917"/>
                <a:gridCol w="3519850"/>
                <a:gridCol w="5455767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Agent</a:t>
                      </a:r>
                    </a:p>
                  </a:txBody>
                  <a:tcPr marL="73152" marR="73152" marT="36576" marB="36576" anchor="ctr">
                    <a:solidFill>
                      <a:srgbClr val="2F6B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負責</a:t>
                      </a:r>
                    </a:p>
                  </a:txBody>
                  <a:tcPr marL="73152" marR="73152" marT="36576" marB="36576" anchor="ctr">
                    <a:solidFill>
                      <a:srgbClr val="2F6B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主要工具</a:t>
                      </a:r>
                    </a:p>
                  </a:txBody>
                  <a:tcPr marL="73152" marR="73152" marT="36576" marB="36576" anchor="ctr">
                    <a:solidFill>
                      <a:srgbClr val="2F6B4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 Agent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理解需求、拆解任務、分派與彙整計畫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知識庫檢索、騎士記憶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配速分析 Agent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各段 P50／P90 時間與預計抵達時間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路線切段、地形特徵、個人配速模型、Google 兩輪車預估時間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天氣 Agent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依各段抵達時間查天氣、警特報、民用暮光終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中央氣象署開放資料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路況與補給 Agent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路況事件、加油站位置與營業時間、續航檢查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交通部 TDX、中油加油站資料、車系規格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驗證 Agent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檢查整份計畫，不通過就退回重新規劃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確定性驗證規則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對應課程框架：六大能力與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9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5873"/>
                <a:gridCol w="7935661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能力</a:t>
                      </a:r>
                    </a:p>
                  </a:txBody>
                  <a:tcPr marL="73152" marR="73152" marT="36576" marB="36576" anchor="ctr">
                    <a:solidFill>
                      <a:srgbClr val="2F6B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本專題的做法</a:t>
                      </a:r>
                    </a:p>
                  </a:txBody>
                  <a:tcPr marL="73152" marR="73152" marT="36576" marB="36576" anchor="ctr">
                    <a:solidFill>
                      <a:srgbClr val="2F6B4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TALK 會對話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多輪對話，主動追問缺少的條件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KNOW 專業知識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知識庫：氣象署警特報、公路局資訊、騎乘安全、車系規格，回答附出處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SENSE 取得資料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自己的 GPX 行程與政府開放資料；L3 加上騎乘中手機定位串流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ANALYZE 資料分析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分位數梯度提升樹預測路段時間與區間，並和多個基準比較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THINK 自主決策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 Agent 分工、驗證不通過就重新規劃、記住騎士偏好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SHOW 呈現成果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依時間與風險上色的地圖、時間軸、行程計畫；L3 加上語音提醒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15000"/>
            <a:ext cx="1091153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2F6B4F"/>
                </a:solidFill>
                <a:latin typeface="Microsoft JhengHei"/>
                <a:ea typeface="Microsoft JhengHei"/>
                <a:cs typeface="Microsoft JhengHei"/>
              </a:rPr>
              <a:t>Level：L1 對話與資料分析（包含在 L2 內）　｜　L2 知識型多 Agent（承諾完成）　｜　L3 騎乘中即時提醒（延伸）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個人配速模型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7340" indent="-30734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資料：騎士自己的 279 趟 GPX（約 1 秒一點），每段實際騎乘時間就是正確答案</a:t>
            </a:r>
          </a:p>
          <a:p>
            <a:pPr marL="307340" indent="-30734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特徵：彎道曲率、坡度（內政部地形）、道路等級、急彎與陡坡標記、時段、天氣、已騎里程</a:t>
            </a:r>
          </a:p>
          <a:p>
            <a:pPr marL="307340" indent="-30734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模型：多元迴歸（課程 L6）→ LightGBM 分位數損失，輸出每段 P50 與 P90</a:t>
            </a:r>
          </a:p>
          <a:p>
            <a:pPr marL="307340" indent="-30734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整趟範圍：各段 P90 直接相加會高估，改為各段 P50 加總，再以保留行程校正整趟 P90（conformal）</a:t>
            </a:r>
          </a:p>
          <a:p>
            <a:pPr marL="307340" indent="-30734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Baseline：平均速度、速限換算、Google Maps 兩輪車預估時間（Routes API 支援台灣）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驗證規則與出發時間決策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規則 1 日照：出發時間加上整趟 P90，必須早於民用暮光終與騎士設定的回程時間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規則 2 續航：補給點間距不超過續航扣除安全餘裕，且抵達加油站時有營業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規則 3 天氣：抵達時落在大雨以上警特報的路段標為高風險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規則 4 路況：路段有封閉或管制事件時，計畫不可行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規則 5 可追溯：回答中的每個時間、距離、機率都必須來自工具輸出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決策：在可行的候選出發時間中，選回程餘裕最大、高風險路段最少者；沒有可行解就說明原因與替代方案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處理流程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12 / 16</a:t>
            </a:r>
          </a:p>
        </p:txBody>
      </p:sp>
      <p:pic>
        <p:nvPicPr>
          <p:cNvPr id="7" name="Picture 6" descr="diagram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11535" cy="3729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核心演算法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13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solidFill>
            <a:srgbClr val="F1F3F0"/>
          </a:solidFill>
          <a:ln>
            <a:solidFill>
              <a:srgbClr val="E3E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228600"/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Algorithm 1: Plan with Verification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01: ctx ← UNDERSTAND(Q, MEMORY(u))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02: if MISSING(ctx) then return ASK_RIDER()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03: route ← BUILD_ROUTE(ctx); X ← SEGMENT_FEATURES(route)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04: repeat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05:   for each departure d in CANDIDATES(ctx) do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06:     (t50, ETA) ← PACE_AGENT(X, d, u)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07:     T90 ← Σ t50 + BREAKS + CONFORMAL_Q90(u)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08:     W ← WEATHER_AGENT(route, ETA)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09:     F ← SUPPLY_AGENT(route, ETA, VEHICLE(u))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10:     plan ← COMPOSE(d, t50, T90, W, F, SEARCH(KB))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11:     if VERIFY(plan) and SLACK(plan) &gt; SLACK(best) then best ← plan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12:   if best = ∅ then ctx ← REPLAN(ctx, violations)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13: until best ≠ ∅ or attempts ≥ MAX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1F2A24"/>
                </a:solidFill>
                <a:latin typeface="Consolas"/>
                <a:ea typeface="Consolas"/>
                <a:cs typeface="Consolas"/>
              </a:rPr>
              <a:t>14: return best ≠ ∅ ? RENDER(best) : INFEASIBILITY_REPORT()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Deep Research 重點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五個核心思維模式：以最難的路段規劃，不看平均速度；山區天氣看時間窗；日光與騎乘時數是硬限制；補給看抵達時有沒有開；山區道路狀態是動態的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爭論 1：LLM Agent 能自我修正，還是必須依賴外部驗證器？→ 本專題採外部驗證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爭論 2：配速模型要個人化，還是用可轉移的通用模型？→ 個人化，並以 Google 預估時間作基準</a:t>
            </a:r>
          </a:p>
          <a:p>
            <a:pPr marL="335280" indent="-33528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4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爭論 3：ABS 等電子輔助的效益，會不會被風險補償抵銷？→ 決策用 P90 而非 P50，避免系統讓騎士更冒險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來源：TxDOT Roadway Design Manual；中央氣象署；IIHS／HLDI；Valmeekam et al., 2023；Geedipally et al., 2017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評估計畫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15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844"/>
                <a:gridCol w="1657448"/>
                <a:gridCol w="8287241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實驗</a:t>
                      </a:r>
                    </a:p>
                  </a:txBody>
                  <a:tcPr marL="73152" marR="73152" marT="36576" marB="36576" anchor="ctr">
                    <a:solidFill>
                      <a:srgbClr val="2F6B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</a:t>
                      </a:r>
                    </a:p>
                  </a:txBody>
                  <a:tcPr marL="73152" marR="73152" marT="36576" marB="36576" anchor="ctr">
                    <a:solidFill>
                      <a:srgbClr val="2F6B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方法與指標</a:t>
                      </a:r>
                    </a:p>
                  </a:txBody>
                  <a:tcPr marL="73152" marR="73152" marT="36576" marB="36576" anchor="ctr">
                    <a:solidFill>
                      <a:srgbClr val="2F6B4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E1 配速模型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個人模型比一般導航準嗎？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平均速度、速限換算、Google 預估時間 vs 多元迴歸 vs LightGBM；依行程分組交叉驗證與時間外推；MAE、MAPE、P90 覆蓋率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E2 消融實驗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外部驗證能提高可行率嗎？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20–30 題規劃問題；只用 LLM vs LLM + 知識庫 vs 完整 Agent；計畫可行率、時間誤差、數字可追溯率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E3 風險規則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抓得到歷史封路日嗎？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以封路紀錄回測；命中率、誤報率、敏感度分析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E4 案例研究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對騎士有沒有價值？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F2A2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2–3 個完整情境；用過去行程回測預測回程時間</a:t>
                      </a:r>
                    </a:p>
                  </a:txBody>
                  <a:tcPr marL="73152" marR="73152" marT="36576" marB="36576" anchor="ctr">
                    <a:solidFill>
                      <a:srgbClr val="F4F6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15000"/>
            <a:ext cx="1091153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2F6B4F"/>
                </a:solidFill>
                <a:latin typeface="Microsoft JhengHei"/>
                <a:ea typeface="Microsoft JhengHei"/>
                <a:cs typeface="Microsoft JhengHei"/>
              </a:rPr>
              <a:t>預期成果（待驗證）：個人配速模型在彎道密集的山區路段比一般導航更貼近實際；完整 Agent 的計畫可行率高於只用 LLM。本提案不含實驗結果。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682935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可行性、限制與時程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11535" cy="9525"/>
          </a:xfrm>
          <a:prstGeom prst="rect">
            <a:avLst/>
          </a:prstGeom>
          <a:solidFill>
            <a:srgbClr val="E3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AIoT-DA 期末專題提案　｜　第 ＿＿ 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65F"/>
                </a:solidFill>
                <a:latin typeface="Microsoft JhengHei"/>
                <a:ea typeface="Microsoft JhengHei"/>
                <a:cs typeface="Microsoft JhengHei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7340" indent="-30734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資料已到位：279 趟 GPX（已檢查取樣約 1 秒一點）；氣象署、TDX、地形、公路局、加油站、Google 兩輪車路線都已確認可取得</a:t>
            </a:r>
          </a:p>
          <a:p>
            <a:pPr marL="307340" indent="-30734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方法已跑通：同一套「切段、特徵、多元迴歸與梯度提升樹、分組交叉驗證」流程已在公開汽車資料集 VED 上驗證（不同資料集，只證明流程可行）</a:t>
            </a:r>
          </a:p>
          <a:p>
            <a:pPr marL="307340" indent="-30734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限制：只有一位騎士（n = 1）；封路沒有機器可讀的歷史資料；風險評分沒有正確答案</a:t>
            </a:r>
          </a:p>
          <a:p>
            <a:pPr marL="307340" indent="-30734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範圍：承諾 L2（知識庫 + 多步推理 Agent + 資料分析）；L3（騎乘中手機定位回傳與語音提醒）為延伸</a:t>
            </a:r>
          </a:p>
          <a:p>
            <a:pPr marL="307340" indent="-30734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2200" b="0">
                <a:solidFill>
                  <a:srgbClr val="1F2A24"/>
                </a:solidFill>
                <a:latin typeface="Microsoft JhengHei"/>
                <a:ea typeface="Microsoft JhengHei"/>
                <a:cs typeface="Microsoft JhengHei"/>
              </a:rPr>
              <a:t>接下來：GPX 驗證、建立 GitHub repo 與 DESIGN.md、實作配速模型與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